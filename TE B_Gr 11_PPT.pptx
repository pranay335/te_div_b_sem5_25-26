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  <p:sldMasterId id="2147483666" r:id="rId2"/>
  </p:sldMasterIdLst>
  <p:notesMasterIdLst>
    <p:notesMasterId r:id="rId24"/>
  </p:notesMasterIdLst>
  <p:sldIdLst>
    <p:sldId id="256" r:id="rId3"/>
    <p:sldId id="257" r:id="rId4"/>
    <p:sldId id="262" r:id="rId5"/>
    <p:sldId id="268" r:id="rId6"/>
    <p:sldId id="264" r:id="rId7"/>
    <p:sldId id="258" r:id="rId8"/>
    <p:sldId id="263" r:id="rId9"/>
    <p:sldId id="259" r:id="rId10"/>
    <p:sldId id="260" r:id="rId11"/>
    <p:sldId id="269" r:id="rId12"/>
    <p:sldId id="270" r:id="rId13"/>
    <p:sldId id="266" r:id="rId14"/>
    <p:sldId id="271" r:id="rId15"/>
    <p:sldId id="267" r:id="rId16"/>
    <p:sldId id="274" r:id="rId17"/>
    <p:sldId id="275" r:id="rId18"/>
    <p:sldId id="276" r:id="rId19"/>
    <p:sldId id="277" r:id="rId20"/>
    <p:sldId id="272" r:id="rId21"/>
    <p:sldId id="273" r:id="rId22"/>
    <p:sldId id="261" r:id="rId23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88AFC-7077-43A4-92A5-60090A3D5A84}" v="16" dt="2025-10-30T15:07:18.8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3595" autoAdjust="0"/>
  </p:normalViewPr>
  <p:slideViewPr>
    <p:cSldViewPr snapToGrid="0">
      <p:cViewPr varScale="1">
        <p:scale>
          <a:sx n="72" d="100"/>
          <a:sy n="72" d="100"/>
        </p:scale>
        <p:origin x="147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d Sawant" userId="54d0c493ab8aadab" providerId="LiveId" clId="{90E064BE-7AE4-46BD-B4F6-FB401608C0CA}"/>
    <pc:docChg chg="undo redo custSel addSld modSld sldOrd">
      <pc:chgData name="Ved Sawant" userId="54d0c493ab8aadab" providerId="LiveId" clId="{90E064BE-7AE4-46BD-B4F6-FB401608C0CA}" dt="2025-10-30T15:08:07.577" v="150"/>
      <pc:docMkLst>
        <pc:docMk/>
      </pc:docMkLst>
      <pc:sldChg chg="addSp delSp modSp mod">
        <pc:chgData name="Ved Sawant" userId="54d0c493ab8aadab" providerId="LiveId" clId="{90E064BE-7AE4-46BD-B4F6-FB401608C0CA}" dt="2025-10-30T14:26:38.860" v="5" actId="1076"/>
        <pc:sldMkLst>
          <pc:docMk/>
          <pc:sldMk cId="0" sldId="259"/>
        </pc:sldMkLst>
        <pc:picChg chg="add mod">
          <ac:chgData name="Ved Sawant" userId="54d0c493ab8aadab" providerId="LiveId" clId="{90E064BE-7AE4-46BD-B4F6-FB401608C0CA}" dt="2025-10-30T14:26:38.860" v="5" actId="1076"/>
          <ac:picMkLst>
            <pc:docMk/>
            <pc:sldMk cId="0" sldId="259"/>
            <ac:picMk id="2" creationId="{A5F271C7-036A-66AD-1E5F-682166A8F945}"/>
          </ac:picMkLst>
        </pc:picChg>
        <pc:picChg chg="del">
          <ac:chgData name="Ved Sawant" userId="54d0c493ab8aadab" providerId="LiveId" clId="{90E064BE-7AE4-46BD-B4F6-FB401608C0CA}" dt="2025-10-30T14:24:24.984" v="0" actId="478"/>
          <ac:picMkLst>
            <pc:docMk/>
            <pc:sldMk cId="0" sldId="259"/>
            <ac:picMk id="3" creationId="{9447F88F-4D94-3696-1968-41D7467384B5}"/>
          </ac:picMkLst>
        </pc:picChg>
      </pc:sldChg>
      <pc:sldChg chg="addSp delSp modSp mod">
        <pc:chgData name="Ved Sawant" userId="54d0c493ab8aadab" providerId="LiveId" clId="{90E064BE-7AE4-46BD-B4F6-FB401608C0CA}" dt="2025-10-30T14:33:57.975" v="55" actId="2711"/>
        <pc:sldMkLst>
          <pc:docMk/>
          <pc:sldMk cId="3943662387" sldId="268"/>
        </pc:sldMkLst>
        <pc:graphicFrameChg chg="add del modGraphic">
          <ac:chgData name="Ved Sawant" userId="54d0c493ab8aadab" providerId="LiveId" clId="{90E064BE-7AE4-46BD-B4F6-FB401608C0CA}" dt="2025-10-30T14:30:11.776" v="35" actId="478"/>
          <ac:graphicFrameMkLst>
            <pc:docMk/>
            <pc:sldMk cId="3943662387" sldId="268"/>
            <ac:graphicFrameMk id="3" creationId="{EB66B8D9-7423-4523-1504-7FAE69D4396D}"/>
          </ac:graphicFrameMkLst>
        </pc:graphicFrameChg>
        <pc:graphicFrameChg chg="add mod modGraphic">
          <ac:chgData name="Ved Sawant" userId="54d0c493ab8aadab" providerId="LiveId" clId="{90E064BE-7AE4-46BD-B4F6-FB401608C0CA}" dt="2025-10-30T14:33:57.975" v="55" actId="2711"/>
          <ac:graphicFrameMkLst>
            <pc:docMk/>
            <pc:sldMk cId="3943662387" sldId="268"/>
            <ac:graphicFrameMk id="4" creationId="{928F4F87-034A-3A32-D281-FA6E51BFEF77}"/>
          </ac:graphicFrameMkLst>
        </pc:graphicFrameChg>
      </pc:sldChg>
      <pc:sldChg chg="ord">
        <pc:chgData name="Ved Sawant" userId="54d0c493ab8aadab" providerId="LiveId" clId="{90E064BE-7AE4-46BD-B4F6-FB401608C0CA}" dt="2025-10-30T15:08:07.577" v="150"/>
        <pc:sldMkLst>
          <pc:docMk/>
          <pc:sldMk cId="1711900306" sldId="270"/>
        </pc:sldMkLst>
      </pc:sldChg>
      <pc:sldChg chg="addSp delSp modSp new mod">
        <pc:chgData name="Ved Sawant" userId="54d0c493ab8aadab" providerId="LiveId" clId="{90E064BE-7AE4-46BD-B4F6-FB401608C0CA}" dt="2025-10-30T15:06:54.044" v="137" actId="20577"/>
        <pc:sldMkLst>
          <pc:docMk/>
          <pc:sldMk cId="3954517488" sldId="274"/>
        </pc:sldMkLst>
        <pc:spChg chg="mod">
          <ac:chgData name="Ved Sawant" userId="54d0c493ab8aadab" providerId="LiveId" clId="{90E064BE-7AE4-46BD-B4F6-FB401608C0CA}" dt="2025-10-30T15:06:54.044" v="137" actId="20577"/>
          <ac:spMkLst>
            <pc:docMk/>
            <pc:sldMk cId="3954517488" sldId="274"/>
            <ac:spMk id="2" creationId="{16B86F7A-4A1C-9C26-CE00-94CF91258046}"/>
          </ac:spMkLst>
        </pc:spChg>
        <pc:picChg chg="add del mod">
          <ac:chgData name="Ved Sawant" userId="54d0c493ab8aadab" providerId="LiveId" clId="{90E064BE-7AE4-46BD-B4F6-FB401608C0CA}" dt="2025-10-30T15:05:00.575" v="107" actId="478"/>
          <ac:picMkLst>
            <pc:docMk/>
            <pc:sldMk cId="3954517488" sldId="274"/>
            <ac:picMk id="5" creationId="{D6860FE4-9545-8D73-8B0A-BFF4B41AF804}"/>
          </ac:picMkLst>
        </pc:picChg>
        <pc:picChg chg="add del mod">
          <ac:chgData name="Ved Sawant" userId="54d0c493ab8aadab" providerId="LiveId" clId="{90E064BE-7AE4-46BD-B4F6-FB401608C0CA}" dt="2025-10-30T15:04:54.483" v="104" actId="478"/>
          <ac:picMkLst>
            <pc:docMk/>
            <pc:sldMk cId="3954517488" sldId="274"/>
            <ac:picMk id="7" creationId="{CB4A84A9-28CF-7329-C969-AABF8603E422}"/>
          </ac:picMkLst>
        </pc:picChg>
        <pc:picChg chg="add del mod">
          <ac:chgData name="Ved Sawant" userId="54d0c493ab8aadab" providerId="LiveId" clId="{90E064BE-7AE4-46BD-B4F6-FB401608C0CA}" dt="2025-10-30T15:04:58.566" v="106" actId="478"/>
          <ac:picMkLst>
            <pc:docMk/>
            <pc:sldMk cId="3954517488" sldId="274"/>
            <ac:picMk id="9" creationId="{880A2190-92DE-876E-52D0-609F6718E3E2}"/>
          </ac:picMkLst>
        </pc:picChg>
        <pc:picChg chg="add del mod">
          <ac:chgData name="Ved Sawant" userId="54d0c493ab8aadab" providerId="LiveId" clId="{90E064BE-7AE4-46BD-B4F6-FB401608C0CA}" dt="2025-10-30T15:04:56.349" v="105" actId="478"/>
          <ac:picMkLst>
            <pc:docMk/>
            <pc:sldMk cId="3954517488" sldId="274"/>
            <ac:picMk id="11" creationId="{DC97C86B-C4AA-BF70-0BC9-17A20AD2A47E}"/>
          </ac:picMkLst>
        </pc:picChg>
        <pc:picChg chg="add mod">
          <ac:chgData name="Ved Sawant" userId="54d0c493ab8aadab" providerId="LiveId" clId="{90E064BE-7AE4-46BD-B4F6-FB401608C0CA}" dt="2025-10-30T15:05:41.997" v="112" actId="1076"/>
          <ac:picMkLst>
            <pc:docMk/>
            <pc:sldMk cId="3954517488" sldId="274"/>
            <ac:picMk id="13" creationId="{1F1935FF-0D35-C4FB-09EC-CE87B3E497CD}"/>
          </ac:picMkLst>
        </pc:picChg>
      </pc:sldChg>
      <pc:sldChg chg="addSp delSp modSp new mod">
        <pc:chgData name="Ved Sawant" userId="54d0c493ab8aadab" providerId="LiveId" clId="{90E064BE-7AE4-46BD-B4F6-FB401608C0CA}" dt="2025-10-30T15:07:37.020" v="148" actId="14100"/>
        <pc:sldMkLst>
          <pc:docMk/>
          <pc:sldMk cId="2175805487" sldId="275"/>
        </pc:sldMkLst>
        <pc:spChg chg="mod">
          <ac:chgData name="Ved Sawant" userId="54d0c493ab8aadab" providerId="LiveId" clId="{90E064BE-7AE4-46BD-B4F6-FB401608C0CA}" dt="2025-10-30T15:06:50.054" v="135" actId="20577"/>
          <ac:spMkLst>
            <pc:docMk/>
            <pc:sldMk cId="2175805487" sldId="275"/>
            <ac:spMk id="2" creationId="{706DCF02-A182-75F5-23FB-41B97AAE64F3}"/>
          </ac:spMkLst>
        </pc:spChg>
        <pc:spChg chg="add del">
          <ac:chgData name="Ved Sawant" userId="54d0c493ab8aadab" providerId="LiveId" clId="{90E064BE-7AE4-46BD-B4F6-FB401608C0CA}" dt="2025-10-30T15:05:55.712" v="115" actId="478"/>
          <ac:spMkLst>
            <pc:docMk/>
            <pc:sldMk cId="2175805487" sldId="275"/>
            <ac:spMk id="5" creationId="{0E921744-C950-255A-95CB-930066FAAFB6}"/>
          </ac:spMkLst>
        </pc:spChg>
        <pc:picChg chg="add mod">
          <ac:chgData name="Ved Sawant" userId="54d0c493ab8aadab" providerId="LiveId" clId="{90E064BE-7AE4-46BD-B4F6-FB401608C0CA}" dt="2025-10-30T15:07:37.020" v="148" actId="14100"/>
          <ac:picMkLst>
            <pc:docMk/>
            <pc:sldMk cId="2175805487" sldId="275"/>
            <ac:picMk id="7" creationId="{2D9E8477-A93C-143C-4E82-C20AA174E153}"/>
          </ac:picMkLst>
        </pc:picChg>
      </pc:sldChg>
      <pc:sldChg chg="addSp delSp modSp new mod">
        <pc:chgData name="Ved Sawant" userId="54d0c493ab8aadab" providerId="LiveId" clId="{90E064BE-7AE4-46BD-B4F6-FB401608C0CA}" dt="2025-10-30T15:07:13.837" v="142" actId="1076"/>
        <pc:sldMkLst>
          <pc:docMk/>
          <pc:sldMk cId="1003482054" sldId="276"/>
        </pc:sldMkLst>
        <pc:spChg chg="mod">
          <ac:chgData name="Ved Sawant" userId="54d0c493ab8aadab" providerId="LiveId" clId="{90E064BE-7AE4-46BD-B4F6-FB401608C0CA}" dt="2025-10-30T15:06:42.274" v="131" actId="20577"/>
          <ac:spMkLst>
            <pc:docMk/>
            <pc:sldMk cId="1003482054" sldId="276"/>
            <ac:spMk id="2" creationId="{D9475493-4454-8A0D-1766-AD01898D9B7B}"/>
          </ac:spMkLst>
        </pc:spChg>
        <pc:picChg chg="add del mod">
          <ac:chgData name="Ved Sawant" userId="54d0c493ab8aadab" providerId="LiveId" clId="{90E064BE-7AE4-46BD-B4F6-FB401608C0CA}" dt="2025-10-30T15:06:29.906" v="125" actId="478"/>
          <ac:picMkLst>
            <pc:docMk/>
            <pc:sldMk cId="1003482054" sldId="276"/>
            <ac:picMk id="5" creationId="{89C6BC8A-7E52-E704-F7E2-2496A175D10D}"/>
          </ac:picMkLst>
        </pc:picChg>
        <pc:picChg chg="add mod">
          <ac:chgData name="Ved Sawant" userId="54d0c493ab8aadab" providerId="LiveId" clId="{90E064BE-7AE4-46BD-B4F6-FB401608C0CA}" dt="2025-10-30T15:07:13.837" v="142" actId="1076"/>
          <ac:picMkLst>
            <pc:docMk/>
            <pc:sldMk cId="1003482054" sldId="276"/>
            <ac:picMk id="7" creationId="{08391F5A-59E5-56F3-A75A-33A3E1F5415E}"/>
          </ac:picMkLst>
        </pc:picChg>
      </pc:sldChg>
      <pc:sldChg chg="addSp modSp new mod">
        <pc:chgData name="Ved Sawant" userId="54d0c493ab8aadab" providerId="LiveId" clId="{90E064BE-7AE4-46BD-B4F6-FB401608C0CA}" dt="2025-10-30T15:07:24.916" v="146" actId="1076"/>
        <pc:sldMkLst>
          <pc:docMk/>
          <pc:sldMk cId="1496884144" sldId="277"/>
        </pc:sldMkLst>
        <pc:spChg chg="mod">
          <ac:chgData name="Ved Sawant" userId="54d0c493ab8aadab" providerId="LiveId" clId="{90E064BE-7AE4-46BD-B4F6-FB401608C0CA}" dt="2025-10-30T15:06:45.907" v="133" actId="20577"/>
          <ac:spMkLst>
            <pc:docMk/>
            <pc:sldMk cId="1496884144" sldId="277"/>
            <ac:spMk id="2" creationId="{1102A038-0BEA-8A83-031F-06F141B77493}"/>
          </ac:spMkLst>
        </pc:spChg>
        <pc:picChg chg="add mod">
          <ac:chgData name="Ved Sawant" userId="54d0c493ab8aadab" providerId="LiveId" clId="{90E064BE-7AE4-46BD-B4F6-FB401608C0CA}" dt="2025-10-30T15:07:24.916" v="146" actId="1076"/>
          <ac:picMkLst>
            <pc:docMk/>
            <pc:sldMk cId="1496884144" sldId="277"/>
            <ac:picMk id="5" creationId="{E53F10D0-69DC-942B-41B7-889266275BA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12800"/>
            <a:ext cx="7126200" cy="400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fld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16" name="Google Shape;216;p2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D01C7499-248B-B4FF-E3B2-67A3ED14B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>
            <a:extLst>
              <a:ext uri="{FF2B5EF4-FFF2-40B4-BE49-F238E27FC236}">
                <a16:creationId xmlns:a16="http://schemas.microsoft.com/office/drawing/2014/main" id="{2DF9205D-3CE4-E3FE-A551-9267FE8F35F5}"/>
              </a:ext>
            </a:extLst>
          </p:cNvPr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fld>
            <a:endParaRPr/>
          </a:p>
        </p:txBody>
      </p:sp>
      <p:sp>
        <p:nvSpPr>
          <p:cNvPr id="230" name="Google Shape;230;p4:notes">
            <a:extLst>
              <a:ext uri="{FF2B5EF4-FFF2-40B4-BE49-F238E27FC236}">
                <a16:creationId xmlns:a16="http://schemas.microsoft.com/office/drawing/2014/main" id="{C1E6D2C0-280B-B5B4-1F8E-991D371EB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>
            <a:extLst>
              <a:ext uri="{FF2B5EF4-FFF2-40B4-BE49-F238E27FC236}">
                <a16:creationId xmlns:a16="http://schemas.microsoft.com/office/drawing/2014/main" id="{FA7AA857-455F-47B2-CA84-FC55FE5FA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198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1938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CC5D2CB3-5FC8-F816-BF66-726DC523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>
            <a:extLst>
              <a:ext uri="{FF2B5EF4-FFF2-40B4-BE49-F238E27FC236}">
                <a16:creationId xmlns:a16="http://schemas.microsoft.com/office/drawing/2014/main" id="{89FE2064-8649-C272-4896-AFA21B669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>
            <a:extLst>
              <a:ext uri="{FF2B5EF4-FFF2-40B4-BE49-F238E27FC236}">
                <a16:creationId xmlns:a16="http://schemas.microsoft.com/office/drawing/2014/main" id="{B722794E-9680-44F4-BF25-E516F6B5C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1938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7054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09" name="Google Shape;309;p8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17" name="Google Shape;317;p10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944A6E1F-A2EE-4F7B-45AA-6EB252AA1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>
            <a:extLst>
              <a:ext uri="{FF2B5EF4-FFF2-40B4-BE49-F238E27FC236}">
                <a16:creationId xmlns:a16="http://schemas.microsoft.com/office/drawing/2014/main" id="{791E8916-8ED3-96D6-06B7-2984F427A16E}"/>
              </a:ext>
            </a:extLst>
          </p:cNvPr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:notes">
            <a:extLst>
              <a:ext uri="{FF2B5EF4-FFF2-40B4-BE49-F238E27FC236}">
                <a16:creationId xmlns:a16="http://schemas.microsoft.com/office/drawing/2014/main" id="{8A70F386-B103-3AA7-9276-3C2ED396C6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17" name="Google Shape;317;p10:notes">
            <a:extLst>
              <a:ext uri="{FF2B5EF4-FFF2-40B4-BE49-F238E27FC236}">
                <a16:creationId xmlns:a16="http://schemas.microsoft.com/office/drawing/2014/main" id="{936EA364-E70B-7504-3BB9-6E25108B49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4796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989F9F8B-06D2-1ADD-D221-C070CC7A4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>
            <a:extLst>
              <a:ext uri="{FF2B5EF4-FFF2-40B4-BE49-F238E27FC236}">
                <a16:creationId xmlns:a16="http://schemas.microsoft.com/office/drawing/2014/main" id="{D01C97AD-256D-1E8D-D85F-DD5238633F4F}"/>
              </a:ext>
            </a:extLst>
          </p:cNvPr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:notes">
            <a:extLst>
              <a:ext uri="{FF2B5EF4-FFF2-40B4-BE49-F238E27FC236}">
                <a16:creationId xmlns:a16="http://schemas.microsoft.com/office/drawing/2014/main" id="{5DF7D830-5509-CC07-4E0D-6F0BEFDC5F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17" name="Google Shape;317;p10:notes">
            <a:extLst>
              <a:ext uri="{FF2B5EF4-FFF2-40B4-BE49-F238E27FC236}">
                <a16:creationId xmlns:a16="http://schemas.microsoft.com/office/drawing/2014/main" id="{A550B75C-1A14-A79C-29C7-10A600013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5757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12157BF6-ACD9-CCD5-D069-3367D6A1F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>
            <a:extLst>
              <a:ext uri="{FF2B5EF4-FFF2-40B4-BE49-F238E27FC236}">
                <a16:creationId xmlns:a16="http://schemas.microsoft.com/office/drawing/2014/main" id="{4B29DE2C-3218-A964-6937-FF706F436A0A}"/>
              </a:ext>
            </a:extLst>
          </p:cNvPr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:notes">
            <a:extLst>
              <a:ext uri="{FF2B5EF4-FFF2-40B4-BE49-F238E27FC236}">
                <a16:creationId xmlns:a16="http://schemas.microsoft.com/office/drawing/2014/main" id="{1C60D179-F7D4-D449-9607-94B6C37DD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17" name="Google Shape;317;p10:notes">
            <a:extLst>
              <a:ext uri="{FF2B5EF4-FFF2-40B4-BE49-F238E27FC236}">
                <a16:creationId xmlns:a16="http://schemas.microsoft.com/office/drawing/2014/main" id="{3A87A028-B2D6-5C3F-1A37-1FC87BBA1A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0302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55B734AB-9203-09FE-1ED5-07F3D6D4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>
            <a:extLst>
              <a:ext uri="{FF2B5EF4-FFF2-40B4-BE49-F238E27FC236}">
                <a16:creationId xmlns:a16="http://schemas.microsoft.com/office/drawing/2014/main" id="{D824CB84-600C-2825-B737-7022F84C830F}"/>
              </a:ext>
            </a:extLst>
          </p:cNvPr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:notes">
            <a:extLst>
              <a:ext uri="{FF2B5EF4-FFF2-40B4-BE49-F238E27FC236}">
                <a16:creationId xmlns:a16="http://schemas.microsoft.com/office/drawing/2014/main" id="{76AFCD79-5A13-F6DA-33CC-D69526E3F0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17" name="Google Shape;317;p10:notes">
            <a:extLst>
              <a:ext uri="{FF2B5EF4-FFF2-40B4-BE49-F238E27FC236}">
                <a16:creationId xmlns:a16="http://schemas.microsoft.com/office/drawing/2014/main" id="{E39FD2B1-E6F5-806B-D10D-818864184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8851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21</a:t>
            </a:fld>
            <a:endParaRPr/>
          </a:p>
        </p:txBody>
      </p:sp>
      <p:sp>
        <p:nvSpPr>
          <p:cNvPr id="295" name="Google Shape;2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96" name="Google Shape;296;p13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8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8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title"/>
          </p:nvPr>
        </p:nvSpPr>
        <p:spPr>
          <a:xfrm rot="5400000">
            <a:off x="4234694" y="3026822"/>
            <a:ext cx="57888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1"/>
          </p:nvPr>
        </p:nvSpPr>
        <p:spPr>
          <a:xfrm rot="5400000">
            <a:off x="641146" y="702722"/>
            <a:ext cx="5788800" cy="5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body" idx="1"/>
          </p:nvPr>
        </p:nvSpPr>
        <p:spPr>
          <a:xfrm rot="5400000">
            <a:off x="2031162" y="1021500"/>
            <a:ext cx="4278300" cy="6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678930" y="671971"/>
            <a:ext cx="6990900" cy="3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672038" y="4423810"/>
            <a:ext cx="6997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2117"/>
              <a:buFont typeface="Trebuchet MS"/>
              <a:buNone/>
              <a:defRPr sz="2646">
                <a:solidFill>
                  <a:schemeClr val="accent1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672040" y="4990673"/>
            <a:ext cx="6997800" cy="16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7F7F7F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>
            <a:spLocks noGrp="1"/>
          </p:cNvSpPr>
          <p:nvPr>
            <p:ph type="title"/>
          </p:nvPr>
        </p:nvSpPr>
        <p:spPr>
          <a:xfrm>
            <a:off x="672040" y="2129659"/>
            <a:ext cx="6997800" cy="28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body" idx="1"/>
          </p:nvPr>
        </p:nvSpPr>
        <p:spPr>
          <a:xfrm>
            <a:off x="672040" y="4990673"/>
            <a:ext cx="6997800" cy="16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672042" y="671971"/>
            <a:ext cx="6997800" cy="3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672042" y="4927788"/>
            <a:ext cx="6997800" cy="1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>
            <a:spLocks noGrp="1"/>
          </p:cNvSpPr>
          <p:nvPr>
            <p:ph type="title"/>
          </p:nvPr>
        </p:nvSpPr>
        <p:spPr>
          <a:xfrm>
            <a:off x="672041" y="5291772"/>
            <a:ext cx="69978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46" b="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"/>
          <p:cNvSpPr>
            <a:spLocks noGrp="1"/>
          </p:cNvSpPr>
          <p:nvPr>
            <p:ph type="pic" idx="2"/>
          </p:nvPr>
        </p:nvSpPr>
        <p:spPr>
          <a:xfrm>
            <a:off x="672041" y="671971"/>
            <a:ext cx="6997800" cy="42393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>
            <a:spLocks noGrp="1"/>
          </p:cNvSpPr>
          <p:nvPr>
            <p:ph type="body" idx="1"/>
          </p:nvPr>
        </p:nvSpPr>
        <p:spPr>
          <a:xfrm>
            <a:off x="672041" y="5916496"/>
            <a:ext cx="69978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882"/>
              <a:buNone/>
              <a:defRPr sz="1102"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>
            <a:spLocks noGrp="1"/>
          </p:cNvSpPr>
          <p:nvPr>
            <p:ph type="title"/>
          </p:nvPr>
        </p:nvSpPr>
        <p:spPr>
          <a:xfrm>
            <a:off x="672041" y="1651933"/>
            <a:ext cx="30759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5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1"/>
          </p:nvPr>
        </p:nvSpPr>
        <p:spPr>
          <a:xfrm>
            <a:off x="3937083" y="567610"/>
            <a:ext cx="3732900" cy="60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2"/>
          </p:nvPr>
        </p:nvSpPr>
        <p:spPr>
          <a:xfrm>
            <a:off x="672041" y="3061205"/>
            <a:ext cx="3075900" cy="28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/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926"/>
              <a:buNone/>
              <a:defRPr sz="1157"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672041" y="671971"/>
            <a:ext cx="6997800" cy="14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title"/>
          </p:nvPr>
        </p:nvSpPr>
        <p:spPr>
          <a:xfrm>
            <a:off x="672041" y="671971"/>
            <a:ext cx="6997800" cy="14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body" idx="1"/>
          </p:nvPr>
        </p:nvSpPr>
        <p:spPr>
          <a:xfrm>
            <a:off x="672041" y="2382084"/>
            <a:ext cx="34074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2117"/>
              <a:buNone/>
              <a:defRPr sz="2646" b="0"/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764"/>
              <a:buNone/>
              <a:defRPr sz="2205" b="1"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 b="1"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body" idx="2"/>
          </p:nvPr>
        </p:nvSpPr>
        <p:spPr>
          <a:xfrm>
            <a:off x="672041" y="3017307"/>
            <a:ext cx="3407400" cy="3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body" idx="3"/>
          </p:nvPr>
        </p:nvSpPr>
        <p:spPr>
          <a:xfrm>
            <a:off x="4262702" y="2382084"/>
            <a:ext cx="34074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2117"/>
              <a:buNone/>
              <a:defRPr sz="2646" b="0"/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764"/>
              <a:buNone/>
              <a:defRPr sz="2205" b="1"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 b="1"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body" idx="4"/>
          </p:nvPr>
        </p:nvSpPr>
        <p:spPr>
          <a:xfrm>
            <a:off x="4262702" y="3017307"/>
            <a:ext cx="3407400" cy="3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672042" y="671971"/>
            <a:ext cx="6997800" cy="14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body" idx="1"/>
          </p:nvPr>
        </p:nvSpPr>
        <p:spPr>
          <a:xfrm>
            <a:off x="672042" y="2381649"/>
            <a:ext cx="3404400" cy="42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9387" algn="l" rtl="0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marL="914400" lvl="1" indent="-318211" algn="l" rtl="0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marL="1371600" lvl="2" indent="-306984" algn="l" rtl="0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marL="1828800" lvl="3" indent="-295808" algn="l" rtl="0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marL="2286000" lvl="4" indent="-295808" algn="l" rtl="0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marL="2743200" lvl="5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marL="3200400" lvl="6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marL="3657600" lvl="7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marL="4114800" lvl="8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body" idx="2"/>
          </p:nvPr>
        </p:nvSpPr>
        <p:spPr>
          <a:xfrm>
            <a:off x="4265529" y="2381651"/>
            <a:ext cx="3404400" cy="42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9387" algn="l" rtl="0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marL="914400" lvl="1" indent="-318211" algn="l" rtl="0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marL="1371600" lvl="2" indent="-306984" algn="l" rtl="0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marL="1828800" lvl="3" indent="-295808" algn="l" rtl="0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marL="2286000" lvl="4" indent="-295808" algn="l" rtl="0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marL="2743200" lvl="5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marL="3200400" lvl="6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marL="3657600" lvl="7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marL="4114800" lvl="8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672040" y="2977208"/>
            <a:ext cx="6997800" cy="20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9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672040" y="4990673"/>
            <a:ext cx="6997800" cy="9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764"/>
              <a:buNone/>
              <a:defRPr sz="2205">
                <a:solidFill>
                  <a:srgbClr val="7F7F7F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9525" y="-9525"/>
            <a:ext cx="10108886" cy="7579449"/>
            <a:chOff x="-8467" y="-8468"/>
            <a:chExt cx="9169889" cy="6875407"/>
          </a:xfrm>
        </p:grpSpPr>
        <p:sp>
          <p:nvSpPr>
            <p:cNvPr id="11" name="Google Shape;11;p1"/>
            <p:cNvSpPr/>
            <p:nvPr/>
          </p:nvSpPr>
          <p:spPr>
            <a:xfrm>
              <a:off x="-8467" y="4013672"/>
              <a:ext cx="458343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" name="Google Shape;12;p1"/>
            <p:cNvCxnSpPr/>
            <p:nvPr/>
          </p:nvCxnSpPr>
          <p:spPr>
            <a:xfrm rot="10800000" flipH="1">
              <a:off x="5130869" y="4174927"/>
              <a:ext cx="4021800" cy="2682900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7043180" y="172"/>
              <a:ext cx="1218300" cy="6857700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" name="Google Shape;14;p1"/>
            <p:cNvSpPr/>
            <p:nvPr/>
          </p:nvSpPr>
          <p:spPr>
            <a:xfrm>
              <a:off x="6891980" y="172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9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7204459" y="-8468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1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6638542" y="3920066"/>
              <a:ext cx="2509944" cy="293370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7010060" y="-8468"/>
              <a:ext cx="2139950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8295974" y="-8468"/>
              <a:ext cx="85581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8094375" y="-8468"/>
              <a:ext cx="1067005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8068455" y="4893559"/>
              <a:ext cx="1092200" cy="1960880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" name="Google Shape;21;p1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8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" name="Google Shape;24;p1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" name="Google Shape;25;p1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3"/>
          <p:cNvGrpSpPr/>
          <p:nvPr/>
        </p:nvGrpSpPr>
        <p:grpSpPr>
          <a:xfrm>
            <a:off x="-9525" y="-9525"/>
            <a:ext cx="10108886" cy="7579449"/>
            <a:chOff x="-8467" y="-8468"/>
            <a:chExt cx="9169889" cy="6875407"/>
          </a:xfrm>
        </p:grpSpPr>
        <p:sp>
          <p:nvSpPr>
            <p:cNvPr id="34" name="Google Shape;34;p3"/>
            <p:cNvSpPr/>
            <p:nvPr/>
          </p:nvSpPr>
          <p:spPr>
            <a:xfrm>
              <a:off x="-8467" y="4013672"/>
              <a:ext cx="458343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35" name="Google Shape;35;p3"/>
            <p:cNvCxnSpPr/>
            <p:nvPr/>
          </p:nvCxnSpPr>
          <p:spPr>
            <a:xfrm rot="10800000" flipH="1">
              <a:off x="5130869" y="4174927"/>
              <a:ext cx="4021800" cy="2682900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7043180" y="172"/>
              <a:ext cx="1218300" cy="6857700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7" name="Google Shape;37;p3"/>
            <p:cNvSpPr/>
            <p:nvPr/>
          </p:nvSpPr>
          <p:spPr>
            <a:xfrm>
              <a:off x="6891980" y="172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9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204459" y="-8468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1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638542" y="3920066"/>
              <a:ext cx="2509944" cy="293370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7010060" y="-8468"/>
              <a:ext cx="2139950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8295974" y="-8468"/>
              <a:ext cx="85581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8094375" y="-8468"/>
              <a:ext cx="1067005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8068455" y="4893559"/>
              <a:ext cx="1092200" cy="1960880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8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"/>
          <p:cNvSpPr txBox="1"/>
          <p:nvPr/>
        </p:nvSpPr>
        <p:spPr>
          <a:xfrm>
            <a:off x="503237" y="1768475"/>
            <a:ext cx="9071100" cy="5394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algn="ctr">
              <a:defRPr/>
            </a:pPr>
            <a:r>
              <a:rPr lang="fr-F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Skin </a:t>
            </a:r>
            <a:r>
              <a:rPr lang="fr-FR" alt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Aid</a:t>
            </a:r>
            <a:r>
              <a:rPr lang="fr-F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A Skin </a:t>
            </a:r>
            <a:r>
              <a:rPr lang="fr-FR" alt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Disease</a:t>
            </a:r>
            <a:r>
              <a:rPr lang="fr-F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Classifier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IN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Umesh Phulare – 24206002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Ved Sawant – 24206001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IN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Pranay Bhere – 24206007</a:t>
            </a:r>
            <a:br>
              <a:rPr lang="en-IN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</a:br>
            <a:r>
              <a:rPr lang="en-IN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Vinay Patil – 23106072</a:t>
            </a:r>
            <a:endParaRPr sz="1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Project Guide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Ms. Priyanka Patil</a:t>
            </a:r>
          </a:p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302" name="Google Shape;302;p1"/>
          <p:cNvCxnSpPr/>
          <p:nvPr/>
        </p:nvCxnSpPr>
        <p:spPr>
          <a:xfrm>
            <a:off x="0" y="1743075"/>
            <a:ext cx="10080600" cy="0"/>
          </a:xfrm>
          <a:prstGeom prst="straightConnector1">
            <a:avLst/>
          </a:prstGeom>
          <a:noFill/>
          <a:ln w="25400" cap="rnd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000000">
                <a:alpha val="34510"/>
              </a:srgbClr>
            </a:outerShdw>
          </a:effectLst>
        </p:spPr>
      </p:cxnSp>
      <p:pic>
        <p:nvPicPr>
          <p:cNvPr id="303" name="Google Shape;30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600" y="-1"/>
            <a:ext cx="7705724" cy="1635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3237" y="301625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3A0C2B6-73EF-1973-0D42-35E9C4B6BC88}"/>
              </a:ext>
            </a:extLst>
          </p:cNvPr>
          <p:cNvSpPr txBox="1">
            <a:spLocks/>
          </p:cNvSpPr>
          <p:nvPr/>
        </p:nvSpPr>
        <p:spPr bwMode="auto">
          <a:xfrm>
            <a:off x="412750" y="1563688"/>
            <a:ext cx="7354271" cy="55356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ource Sans Pro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diseases are among the most common health conditions worldwide, yet access to timely dermatological consultation is limited, especially in rural or underserved areas. </a:t>
            </a:r>
          </a:p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SkinAid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platform designed to detect and classify skin diseases from user-uploaded images. 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focus on accessibility, explainability, and accuracy, the system provides a digital dermatological screening tool that can assist patients, doctors, and health workers alike.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7ECC1595-08A2-B79E-BED0-D99EC2A34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>
            <a:extLst>
              <a:ext uri="{FF2B5EF4-FFF2-40B4-BE49-F238E27FC236}">
                <a16:creationId xmlns:a16="http://schemas.microsoft.com/office/drawing/2014/main" id="{D019897E-B4E2-D22A-D6F1-38A011E74699}"/>
              </a:ext>
            </a:extLst>
          </p:cNvPr>
          <p:cNvSpPr txBox="1"/>
          <p:nvPr/>
        </p:nvSpPr>
        <p:spPr>
          <a:xfrm>
            <a:off x="503237" y="301625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2486F3D-0FD4-18B5-5618-B7456562BF21}"/>
              </a:ext>
            </a:extLst>
          </p:cNvPr>
          <p:cNvSpPr txBox="1">
            <a:spLocks/>
          </p:cNvSpPr>
          <p:nvPr/>
        </p:nvSpPr>
        <p:spPr bwMode="auto">
          <a:xfrm>
            <a:off x="412750" y="1563688"/>
            <a:ext cx="8257914" cy="55356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ource Sans Pro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buFont typeface="Arial" panose="020B0604020202020204" pitchFamily="34" charset="0"/>
              <a:buNone/>
              <a:defRPr/>
            </a:pPr>
            <a:r>
              <a:rPr lang="en-US" altLang="en-US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</a:p>
          <a:p>
            <a:pPr marL="0" indent="0" algn="just" defTabSz="914400">
              <a:buNone/>
              <a:defRPr/>
            </a:pPr>
            <a:endParaRPr lang="en-US" altLang="en-US" sz="11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>
              <a:buFont typeface="Courier New" panose="02070309020205020404" pitchFamily="49" charset="0"/>
              <a:buChar char="o"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an AI system to classify skin diseases from images with high accuracy.</a:t>
            </a:r>
          </a:p>
          <a:p>
            <a:pPr algn="just" defTabSz="914400">
              <a:buFont typeface="Courier New" panose="02070309020205020404" pitchFamily="49" charset="0"/>
              <a:buChar char="o"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accessibility, transparency, and early screening to improve patient outcomes.</a:t>
            </a:r>
          </a:p>
          <a:p>
            <a:pPr algn="just" defTabSz="914400">
              <a:buFont typeface="Arial" panose="020B0604020202020204" pitchFamily="34" charset="0"/>
              <a:buNone/>
              <a:defRPr/>
            </a:pPr>
            <a:endParaRPr lang="en-US" altLang="en-US" sz="22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>
              <a:buFont typeface="Arial" panose="020B0604020202020204" pitchFamily="34" charset="0"/>
              <a:buNone/>
              <a:defRPr/>
            </a:pPr>
            <a:r>
              <a:rPr lang="en-US" altLang="en-US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lvl="0" algn="just">
              <a:defRPr/>
            </a:pPr>
            <a:endParaRPr lang="en-US" altLang="en-US" sz="11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Courier New" panose="02070309020205020404" pitchFamily="49" charset="0"/>
              <a:buChar char="o"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affordable, user-friendly dermatological screening.</a:t>
            </a:r>
          </a:p>
          <a:p>
            <a:pPr algn="just">
              <a:buFont typeface="Courier New" panose="02070309020205020404" pitchFamily="49" charset="0"/>
              <a:buChar char="o"/>
              <a:defRPr/>
            </a:pPr>
            <a:r>
              <a:rPr lang="en-US" altLang="en-US" sz="2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 users in understanding potential skin conditions before visiting a specialist.</a:t>
            </a:r>
          </a:p>
          <a:p>
            <a:pPr>
              <a:defRPr/>
            </a:pPr>
            <a:endParaRPr lang="en-US" altLang="en-US" sz="24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697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2ABD1-E1EA-CD51-F207-6A49D958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C25A-C98A-13FB-D8E4-D791BAD7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72" y="395066"/>
            <a:ext cx="9630728" cy="1455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of the Existing Systems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10A90D-5FB3-6731-ABC0-B8A4C75D5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8F4F87-034A-3A32-D281-FA6E51BFE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567939"/>
              </p:ext>
            </p:extLst>
          </p:nvPr>
        </p:nvGraphicFramePr>
        <p:xfrm>
          <a:off x="-10633" y="1275908"/>
          <a:ext cx="10091258" cy="6283767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946921">
                  <a:extLst>
                    <a:ext uri="{9D8B030D-6E8A-4147-A177-3AD203B41FA5}">
                      <a16:colId xmlns:a16="http://schemas.microsoft.com/office/drawing/2014/main" val="3023573870"/>
                    </a:ext>
                  </a:extLst>
                </a:gridCol>
                <a:gridCol w="2854797">
                  <a:extLst>
                    <a:ext uri="{9D8B030D-6E8A-4147-A177-3AD203B41FA5}">
                      <a16:colId xmlns:a16="http://schemas.microsoft.com/office/drawing/2014/main" val="2058629617"/>
                    </a:ext>
                  </a:extLst>
                </a:gridCol>
                <a:gridCol w="2868155">
                  <a:extLst>
                    <a:ext uri="{9D8B030D-6E8A-4147-A177-3AD203B41FA5}">
                      <a16:colId xmlns:a16="http://schemas.microsoft.com/office/drawing/2014/main" val="3785601602"/>
                    </a:ext>
                  </a:extLst>
                </a:gridCol>
                <a:gridCol w="1421385">
                  <a:extLst>
                    <a:ext uri="{9D8B030D-6E8A-4147-A177-3AD203B41FA5}">
                      <a16:colId xmlns:a16="http://schemas.microsoft.com/office/drawing/2014/main" val="1569824253"/>
                    </a:ext>
                  </a:extLst>
                </a:gridCol>
              </a:tblGrid>
              <a:tr h="4754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u="non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600" b="1" i="1" u="non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u="non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Points</a:t>
                      </a:r>
                      <a:endParaRPr lang="en-IN" sz="1600" b="1" i="1" u="non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u="non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Improvements Proposed</a:t>
                      </a:r>
                      <a:endParaRPr lang="en-IN" sz="1600" b="1" i="1" u="non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u="non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Citation</a:t>
                      </a:r>
                      <a:endParaRPr lang="en-IN" sz="1600" b="1" i="1" u="non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 anchor="ctr"/>
                </a:tc>
                <a:extLst>
                  <a:ext uri="{0D108BD9-81ED-4DB2-BD59-A6C34878D82A}">
                    <a16:rowId xmlns:a16="http://schemas.microsoft.com/office/drawing/2014/main" val="1564166603"/>
                  </a:ext>
                </a:extLst>
              </a:tr>
              <a:tr h="11022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"Dermatologist-level classification of skin cancer with deep neural networks"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High accuracy on par with dermatologists; proof-of-concept for AI in dermatology.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Focus on explainability and transparency for user trust and clinical adoption."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[1]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extLst>
                  <a:ext uri="{0D108BD9-81ED-4DB2-BD59-A6C34878D82A}">
                    <a16:rowId xmlns:a16="http://schemas.microsoft.com/office/drawing/2014/main" val="855249126"/>
                  </a:ext>
                </a:extLst>
              </a:tr>
              <a:tr h="14338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"Explainable deep learning model for skin lesion classification."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CNN outperforms most dermatologists in melanoma detection; high sensitivity.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Enhance interpretability to build confidence and act as a reliable second opinion.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[2]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extLst>
                  <a:ext uri="{0D108BD9-81ED-4DB2-BD59-A6C34878D82A}">
                    <a16:rowId xmlns:a16="http://schemas.microsoft.com/office/drawing/2014/main" val="1300416907"/>
                  </a:ext>
                </a:extLst>
              </a:tr>
              <a:tr h="11609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"Deep learning for skin lesion analysis: The ISIC 2016 challenge."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Created large, standardized datasets; showed deep learning's high performance...."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Address real-world data variability beyond controlled datasets; handle diverse skin tones.adoption.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[3]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extLst>
                  <a:ext uri="{0D108BD9-81ED-4DB2-BD59-A6C34878D82A}">
                    <a16:rowId xmlns:a16="http://schemas.microsoft.com/office/drawing/2014/main" val="231381135"/>
                  </a:ext>
                </a:extLst>
              </a:tr>
              <a:tr h="11323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" A comprehensive review on machine learning-based skin cancer detection."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Highlights common pitfalls: data bias, need for large datasets, and ground truth.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Integrate explainability directly into a user-facing product for non-expert users.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[4]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extLst>
                  <a:ext uri="{0D108BD9-81ED-4DB2-BD59-A6C34878D82A}">
                    <a16:rowId xmlns:a16="http://schemas.microsoft.com/office/drawing/2014/main" val="3158961731"/>
                  </a:ext>
                </a:extLst>
              </a:tr>
              <a:tr h="9789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"Towards a clinical skin imaging benchmark.".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Highlights common pitfalls: data bias, need for large datasets, and ground truth.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Develop a full, end-to-end user pipeline from image capture to actionable output.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[5]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90" marR="38890" marT="0" marB="0"/>
                </a:tc>
                <a:extLst>
                  <a:ext uri="{0D108BD9-81ED-4DB2-BD59-A6C34878D82A}">
                    <a16:rowId xmlns:a16="http://schemas.microsoft.com/office/drawing/2014/main" val="3600969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662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7CF4-3351-6768-F2D6-14A20DF31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12" y="356552"/>
            <a:ext cx="6997800" cy="1455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B86D28-88E6-E320-1B5D-0D71DD497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A31D38-60B6-57B7-D671-A675E5324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85385"/>
              </p:ext>
            </p:extLst>
          </p:nvPr>
        </p:nvGraphicFramePr>
        <p:xfrm>
          <a:off x="0" y="1463040"/>
          <a:ext cx="10080625" cy="6218303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648167">
                  <a:extLst>
                    <a:ext uri="{9D8B030D-6E8A-4147-A177-3AD203B41FA5}">
                      <a16:colId xmlns:a16="http://schemas.microsoft.com/office/drawing/2014/main" val="610998625"/>
                    </a:ext>
                  </a:extLst>
                </a:gridCol>
                <a:gridCol w="7432458">
                  <a:extLst>
                    <a:ext uri="{9D8B030D-6E8A-4147-A177-3AD203B41FA5}">
                      <a16:colId xmlns:a16="http://schemas.microsoft.com/office/drawing/2014/main" val="313881985"/>
                    </a:ext>
                  </a:extLst>
                </a:gridCol>
              </a:tblGrid>
              <a:tr h="7593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i="0" u="none" strike="noStrike" kern="1200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800" b="1" i="0" u="none" strike="noStrike" kern="1200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4298548"/>
                  </a:ext>
                </a:extLst>
              </a:tr>
              <a:tr h="1136206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b="1" dirty="0"/>
                        <a:t>Early Stages</a:t>
                      </a:r>
                      <a:r>
                        <a:rPr lang="en-IN" sz="1800" dirty="0"/>
                        <a:t> </a:t>
                      </a:r>
                    </a:p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i="1" dirty="0"/>
                        <a:t>(Pre-1900s)</a:t>
                      </a:r>
                      <a:endParaRPr lang="en-IN" sz="1800" b="1" i="0" u="none" strike="noStrike" kern="1200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0" indent="-28575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Labor-intensive, requiring human experts to define rules.</a:t>
                      </a:r>
                    </a:p>
                    <a:p>
                      <a:pPr marL="0" indent="-28575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Seen as a Curse</a:t>
                      </a:r>
                    </a:p>
                    <a:p>
                      <a:pPr marL="0" indent="-28575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No awareness, and often practice some religion rituals </a:t>
                      </a:r>
                    </a:p>
                    <a:p>
                      <a:pPr marL="0" indent="-28575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IN" sz="1400" b="0" i="0" u="none" strike="noStrike" kern="1200" cap="none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0932709"/>
                  </a:ext>
                </a:extLst>
              </a:tr>
              <a:tr h="1136206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/>
                        <a:t>In-person consultation</a:t>
                      </a:r>
                    </a:p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b="1" i="0" u="none" strike="noStrike" kern="1200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(1900- present)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0" indent="-28575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Limited by geographic location.</a:t>
                      </a:r>
                    </a:p>
                    <a:p>
                      <a:pPr marL="0" indent="-28575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appointment availability,</a:t>
                      </a:r>
                    </a:p>
                    <a:p>
                      <a:pPr marL="0" indent="-28575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cost of a visit.</a:t>
                      </a:r>
                      <a:endParaRPr lang="en-IN" sz="1400" b="0" i="0" u="none" strike="noStrike" kern="1200" cap="none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2800472"/>
                  </a:ext>
                </a:extLst>
              </a:tr>
              <a:tr h="1273267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b="1" i="0" u="none" strike="noStrike" kern="1200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 </a:t>
                      </a:r>
                    </a:p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b="1" i="0" u="none" strike="noStrike" kern="1200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(2010-2020)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Still required manual feature engineering.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Struggled to generalize to complex, unseen data.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Accuracy was directly tied to the quality of handcrafted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2138213"/>
                  </a:ext>
                </a:extLst>
              </a:tr>
              <a:tr h="1791597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b="1" i="0" u="none" strike="noStrike" kern="1200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Learning &amp; </a:t>
                      </a:r>
                    </a:p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b="1" i="0" u="none" strike="noStrike" kern="1200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Modern AI</a:t>
                      </a:r>
                    </a:p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IN" sz="1800" b="1" i="0" u="none" strike="noStrike" kern="1200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(2020-present)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Early models lacked explainability, creating a trust barrier with healthcare professionals.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Reliance on large, labeled datasets for training.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124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051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>
            <a:spLocks noGrp="1"/>
          </p:cNvSpPr>
          <p:nvPr>
            <p:ph type="title"/>
          </p:nvPr>
        </p:nvSpPr>
        <p:spPr>
          <a:xfrm>
            <a:off x="315912" y="5699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statement </a:t>
            </a:r>
            <a:endParaRPr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4B4FCA-AA41-1DF0-2B96-E6A7F8D68075}"/>
              </a:ext>
            </a:extLst>
          </p:cNvPr>
          <p:cNvSpPr txBox="1">
            <a:spLocks/>
          </p:cNvSpPr>
          <p:nvPr/>
        </p:nvSpPr>
        <p:spPr bwMode="auto">
          <a:xfrm>
            <a:off x="483870" y="1685608"/>
            <a:ext cx="7278370" cy="55356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ource Sans Pro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Consulting dermatologists for skin issues can be time-consuming, expensive, or delayed due to long appointment wait times. This often results in users ignoring or misjudging visible symptoms, leading to late or incorrect treatment. </a:t>
            </a:r>
          </a:p>
          <a:p>
            <a:pPr marL="0" indent="0" algn="just">
              <a:buNone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There's a growing need for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user-friendly, AI-powered system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offers preliminary skin disease analysis, builds confidence with explainable results, and encourages timely medical follow-up when necessary.</a:t>
            </a:r>
          </a:p>
          <a:p>
            <a:pPr marL="0" indent="0">
              <a:buNone/>
              <a:defRPr/>
            </a:pPr>
            <a:endParaRPr lang="en-US" altLang="en-US" sz="2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02413AD4-E2FB-901C-FA2A-626B3DA5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>
            <a:extLst>
              <a:ext uri="{FF2B5EF4-FFF2-40B4-BE49-F238E27FC236}">
                <a16:creationId xmlns:a16="http://schemas.microsoft.com/office/drawing/2014/main" id="{479B1EBD-D44C-743D-5498-8996D33E1A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1226" y="379318"/>
            <a:ext cx="6968808" cy="131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Mapped Sustainable Development Goals (SDG)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D20F4D-1AE7-142F-5A69-8E4C7811E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Contributes to SDG 11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making urban transport safer and more resilient.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96FD17-2D76-404F-B28B-A62FCB2FA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894095"/>
              </p:ext>
            </p:extLst>
          </p:nvPr>
        </p:nvGraphicFramePr>
        <p:xfrm>
          <a:off x="511226" y="1854657"/>
          <a:ext cx="7494853" cy="319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592">
                  <a:extLst>
                    <a:ext uri="{9D8B030D-6E8A-4147-A177-3AD203B41FA5}">
                      <a16:colId xmlns:a16="http://schemas.microsoft.com/office/drawing/2014/main" val="1180941372"/>
                    </a:ext>
                  </a:extLst>
                </a:gridCol>
                <a:gridCol w="2889354">
                  <a:extLst>
                    <a:ext uri="{9D8B030D-6E8A-4147-A177-3AD203B41FA5}">
                      <a16:colId xmlns:a16="http://schemas.microsoft.com/office/drawing/2014/main" val="413718684"/>
                    </a:ext>
                  </a:extLst>
                </a:gridCol>
                <a:gridCol w="2478907">
                  <a:extLst>
                    <a:ext uri="{9D8B030D-6E8A-4147-A177-3AD203B41FA5}">
                      <a16:colId xmlns:a16="http://schemas.microsoft.com/office/drawing/2014/main" val="2188145302"/>
                    </a:ext>
                  </a:extLst>
                </a:gridCol>
              </a:tblGrid>
              <a:tr h="63454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Goal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660418"/>
                  </a:ext>
                </a:extLst>
              </a:tr>
              <a:tr h="91493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Ensure healthy lives and promote well-being for all at all 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</a:t>
                      </a: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SkinAid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project directly supports 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3: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 promoting the 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detection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serious skin diseases like cancer and 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democratizing access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health information for everyone.</a:t>
                      </a:r>
                      <a:endParaRPr lang="en-IN" sz="18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261592"/>
                  </a:ext>
                </a:extLst>
              </a:tr>
            </a:tbl>
          </a:graphicData>
        </a:graphic>
      </p:graphicFrame>
      <p:pic>
        <p:nvPicPr>
          <p:cNvPr id="1028" name="Picture 4" descr="goal logo">
            <a:extLst>
              <a:ext uri="{FF2B5EF4-FFF2-40B4-BE49-F238E27FC236}">
                <a16:creationId xmlns:a16="http://schemas.microsoft.com/office/drawing/2014/main" id="{E2C0ABC8-501A-EB03-A229-FED710C9C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26" y="3314928"/>
            <a:ext cx="1917013" cy="132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203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"/>
          <p:cNvSpPr txBox="1"/>
          <p:nvPr/>
        </p:nvSpPr>
        <p:spPr>
          <a:xfrm>
            <a:off x="504762" y="185878"/>
            <a:ext cx="7033722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Overview of 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F271C7-036A-66AD-1E5F-682166A8F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71" y="1447978"/>
            <a:ext cx="6396904" cy="54631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/>
          <p:cNvSpPr txBox="1"/>
          <p:nvPr/>
        </p:nvSpPr>
        <p:spPr>
          <a:xfrm>
            <a:off x="756456" y="314266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"/>
          <p:cNvSpPr txBox="1"/>
          <p:nvPr/>
        </p:nvSpPr>
        <p:spPr>
          <a:xfrm>
            <a:off x="756456" y="1713848"/>
            <a:ext cx="9071100" cy="540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React 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building a responsive UI or quick model interface.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API: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handle communication between frontend and ML model.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Framework: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CNN (Convolutional Neural Networks)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classify skin diseases from input images.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DermNet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train the CNN based image classification model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Firebase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store user data and prediction history.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Server: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Nvidia DGX Server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We have used Nvidia DGX Server for Training the chatbot.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016E956-A4C2-C375-2B93-5F1281C0F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classify skin diseases from input images.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67B15331-AD52-7825-66E0-69E9B8C5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>
            <a:extLst>
              <a:ext uri="{FF2B5EF4-FFF2-40B4-BE49-F238E27FC236}">
                <a16:creationId xmlns:a16="http://schemas.microsoft.com/office/drawing/2014/main" id="{5E658D38-A01C-0604-29F6-0AE83F6C64FB}"/>
              </a:ext>
            </a:extLst>
          </p:cNvPr>
          <p:cNvSpPr txBox="1"/>
          <p:nvPr/>
        </p:nvSpPr>
        <p:spPr>
          <a:xfrm>
            <a:off x="756456" y="314266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F3CDDFD-2B15-7919-0C7F-24BF8EA9C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classify skin diseases from input images.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C4C6DD-4496-FBC7-C4CC-C7DFE9CB7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56" y="1576366"/>
            <a:ext cx="5162765" cy="460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60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DB9535B8-D936-B171-5800-0218D324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>
            <a:extLst>
              <a:ext uri="{FF2B5EF4-FFF2-40B4-BE49-F238E27FC236}">
                <a16:creationId xmlns:a16="http://schemas.microsoft.com/office/drawing/2014/main" id="{235D9604-509C-8DC5-681B-46819E9851E6}"/>
              </a:ext>
            </a:extLst>
          </p:cNvPr>
          <p:cNvSpPr txBox="1"/>
          <p:nvPr/>
        </p:nvSpPr>
        <p:spPr>
          <a:xfrm>
            <a:off x="756456" y="314266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6AAF6D7-F629-AD5F-1E48-A85DA4963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classify skin diseases from input images.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9B20E-7C44-3F99-1DD8-B8EC55C93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" y="2184403"/>
            <a:ext cx="10078241" cy="544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900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4374B8BF-31A0-F6C4-B185-4D82CCEB9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>
            <a:extLst>
              <a:ext uri="{FF2B5EF4-FFF2-40B4-BE49-F238E27FC236}">
                <a16:creationId xmlns:a16="http://schemas.microsoft.com/office/drawing/2014/main" id="{D3273212-1083-E042-51FB-F8A89F975C54}"/>
              </a:ext>
            </a:extLst>
          </p:cNvPr>
          <p:cNvSpPr txBox="1"/>
          <p:nvPr/>
        </p:nvSpPr>
        <p:spPr>
          <a:xfrm>
            <a:off x="756456" y="314266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F4252A4-4926-B3B2-40BF-71C00E4A8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classify skin diseases from input images.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6667E6-A151-AC20-0B70-B8FD227BB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12" y="1420306"/>
            <a:ext cx="9601200" cy="471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42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3C25-70AF-2612-E56D-B35E80C6E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A7956-4943-E272-8BE2-5E21F8683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D1E21-3D62-4E08-41A9-F6CE6604B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18" y="2152468"/>
            <a:ext cx="9219388" cy="473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5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315B4CDB-4A41-838F-1605-B6DDD9759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>
            <a:extLst>
              <a:ext uri="{FF2B5EF4-FFF2-40B4-BE49-F238E27FC236}">
                <a16:creationId xmlns:a16="http://schemas.microsoft.com/office/drawing/2014/main" id="{865F5DFE-D96F-686F-FDD6-5A75E0BB4FDD}"/>
              </a:ext>
            </a:extLst>
          </p:cNvPr>
          <p:cNvSpPr txBox="1"/>
          <p:nvPr/>
        </p:nvSpPr>
        <p:spPr>
          <a:xfrm>
            <a:off x="756456" y="314266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D88E6DC-0FB3-0B1C-444B-E78EEA5D6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classify skin diseases from input images.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E8D175-7DED-152B-FB12-BCF80E412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818649"/>
            <a:ext cx="10080624" cy="574102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34944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86F7A-4A1C-9C26-CE00-94CF9125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Previously Tested Models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A151B-165D-8104-9512-79FFDCA85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1935FF-0D35-C4FB-09EC-CE87B3E49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80" y="1873263"/>
            <a:ext cx="8508954" cy="478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17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CF02-A182-75F5-23FB-41B97AAE6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Previously Tested Models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9FD33-BE47-A639-4F03-6E576C542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9E8477-A93C-143C-4E82-C20AA174E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4" y="1850065"/>
            <a:ext cx="9100769" cy="503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05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5493-4454-8A0D-1766-AD01898D9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Previously Tested Models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3E153-1D55-AAE5-E68F-62C949B55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391F5A-59E5-56F3-A75A-33A3E1F54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37" y="1816432"/>
            <a:ext cx="9005776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82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A038-0BEA-8A83-031F-06F141B77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Previously Tested Models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4ABA2-8CAC-35C0-A2E9-82846150B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F10D0-69DC-942B-41B7-88926627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40" y="1855726"/>
            <a:ext cx="8080744" cy="50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84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57CF-8417-C12F-E2B1-0805C43B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31715-D519-1CC5-499A-CF25AB2A7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511" y="2381249"/>
            <a:ext cx="8079083" cy="4614973"/>
          </a:xfrm>
        </p:spPr>
        <p:txBody>
          <a:bodyPr/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SkinAid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successfully delivered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high-accuracy, transparent skin disease classifier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deep learning (CNN) integrated into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full-stack application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(React/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It met all goals, offering statistically significant diagnostic efficacy and building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trust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explanation feature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support chatbot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post-diagnosis guidance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10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C49C7-7091-09CF-46A8-552BC6FFD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4E2D1-CD96-4B6B-3EE1-0D691F327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511" y="2381250"/>
            <a:ext cx="8270469" cy="4278300"/>
          </a:xfrm>
        </p:spPr>
        <p:txBody>
          <a:bodyPr/>
          <a:lstStyle/>
          <a:p>
            <a:pPr marL="13716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SkinAid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project's future aims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 diagnostic fairness and utility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Key steps include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with Fitzpatrick skin type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enabling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lesion detection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Feature enhancements involve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chatbot symptom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multi-modal diagnosis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risk prediction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Deployment will scale with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mobile app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microservices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094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/>
          <p:nvPr/>
        </p:nvSpPr>
        <p:spPr>
          <a:xfrm>
            <a:off x="647700" y="3057525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6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</a:t>
            </a:r>
            <a:endParaRPr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defaul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FFFFFF"/>
      </a:accent3>
      <a:accent4>
        <a:srgbClr val="5FCBEF"/>
      </a:accent4>
      <a:accent5>
        <a:srgbClr val="2E83C3"/>
      </a:accent5>
      <a:accent6>
        <a:srgbClr val="FFFFFF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897</Words>
  <Application>Microsoft Office PowerPoint</Application>
  <PresentationFormat>Custom</PresentationFormat>
  <Paragraphs>133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Courier New</vt:lpstr>
      <vt:lpstr>Noto Sans Symbols</vt:lpstr>
      <vt:lpstr>Times New Roman</vt:lpstr>
      <vt:lpstr>Trebuchet MS</vt:lpstr>
      <vt:lpstr>Wingdings</vt:lpstr>
      <vt:lpstr>Facet</vt:lpstr>
      <vt:lpstr>Facet</vt:lpstr>
      <vt:lpstr>PowerPoint Presentation</vt:lpstr>
      <vt:lpstr>PowerPoint Presentation</vt:lpstr>
      <vt:lpstr>PowerPoint Presentation</vt:lpstr>
      <vt:lpstr>Literature Survey of the Existing Systems</vt:lpstr>
      <vt:lpstr>Limitations of Existing Systems</vt:lpstr>
      <vt:lpstr> Problem statement </vt:lpstr>
      <vt:lpstr>Mapped Sustainable Development Goals (SDG)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</vt:lpstr>
      <vt:lpstr>PowerPoint Presentation</vt:lpstr>
      <vt:lpstr>Previously Tested Models</vt:lpstr>
      <vt:lpstr>Previously Tested Models</vt:lpstr>
      <vt:lpstr>Previously Tested Models</vt:lpstr>
      <vt:lpstr>Previously Tested Models</vt:lpstr>
      <vt:lpstr>Conclusion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Umesh Phulare</dc:creator>
  <cp:lastModifiedBy>Ved Sawant</cp:lastModifiedBy>
  <cp:revision>9</cp:revision>
  <dcterms:modified xsi:type="dcterms:W3CDTF">2025-10-30T15:08:18Z</dcterms:modified>
</cp:coreProperties>
</file>